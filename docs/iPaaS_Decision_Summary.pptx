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COVERAGE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vs. Hybrid vs. Vendor-Only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8 most decision-relevant features from Section 1, rated by how completely each approach covers them.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74552" cy="914400"/>
        </p:xfrm>
        <a:graphic>
          <a:graphicData uri="http://schemas.openxmlformats.org/drawingml/2006/table">
            <a:tbl>
              <a:tblPr/>
              <a:tblGrid>
                <a:gridCol w="4297680"/>
                <a:gridCol w="2313432"/>
                <a:gridCol w="2313432"/>
                <a:gridCol w="2313432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Vendor-Only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Connectivity &amp; Auth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7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7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Multi-Tenancy &amp; Isolation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7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Extensibility &amp; Time-to-Build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7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&amp; Governance/Compliance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7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Agnostic / Deployment Models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7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 Modes &amp; Orchestration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7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Scalability &amp; Performance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7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Canonical Entity Types &amp; Data Mapping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7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886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742432"/>
            <a:ext cx="3575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7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 </a:t>
            </a:r>
            <a:pPr indent="0" marL="0"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and controlled end-to-end — no gap to work around.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306824" y="5742432"/>
            <a:ext cx="3575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 </a:t>
            </a:r>
            <a:pPr indent="0" marL="0"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ownership, or works but with real limitations.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56448" y="5742432"/>
            <a:ext cx="3575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 </a:t>
            </a:r>
            <a:pPr indent="0" marL="0">
              <a:buNone/>
            </a:pPr>
            <a:r>
              <a:rPr lang="en-US" sz="11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available under this approach — needs a separate build.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Each Rating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reasoning behind every Full, Partial, and None on the previous slide, feature by feature.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54406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&amp; Auth</a:t>
            </a:r>
            <a:endParaRPr lang="en-US" sz="1150" dirty="0"/>
          </a:p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builds any provider on demand. Hybrid blends vendor coverage with custom gap-filling. Vendor-Only is fastest, but capped to the vendor's existing catalog.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 &amp; Isolation</a:t>
            </a:r>
            <a:endParaRPr lang="en-US" sz="1150" dirty="0"/>
          </a:p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is built natively for reselling to tenants. Hybrid gets this only on its custom slice. Vendor-Only doesn't support it at all.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Extensibility &amp; Time-to-Build</a:t>
            </a:r>
            <a:endParaRPr lang="en-US" sz="1150" dirty="0"/>
          </a:p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is fully extensible — any provider is a new adapter. Hybrid closes vendor gaps with custom code. Vendor-Only's closed catalog forces a full custom build anyway.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Governance/Compliance</a:t>
            </a:r>
            <a:endParaRPr lang="en-US" sz="1150" dirty="0"/>
          </a:p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owns its compliance posture end to end. Hybrid inherits the vendor's certifications for one slice. Vendor-Only depends entirely on the vendor's — largely unconfirmed for the vendors evaluated.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172200" y="1691640"/>
            <a:ext cx="555955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Agnostic / Deployment Models</a:t>
            </a:r>
            <a:endParaRPr lang="en-US" sz="1150" dirty="0"/>
          </a:p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picks its own infrastructure freely. Hybrid is split — flexible on one slice, vendor-locked on the other. Vendor-Only is SaaS-only for most vendors evaluated, with rare self-hosted exceptions.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Modes &amp; Orchestration</a:t>
            </a:r>
            <a:endParaRPr lang="en-US" sz="1150" dirty="0"/>
          </a:p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has a full orchestration engine built to spec. Hybrid blends vendor sync with custom orchestration. Vendor-Only typically has no real orchestration engine, though this varies by vendor.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&amp; Performance</a:t>
            </a:r>
            <a:endParaRPr lang="en-US" sz="1150" dirty="0"/>
          </a:p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scales on our own infrastructure economics. Hybrid's vendor slice scales at vendor pricing; the custom slice scales on ours. Vendor-Only's cost climbs linearly with every connection.</a:t>
            </a:r>
            <a:endParaRPr lang="en-US" sz="115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Entity Types &amp; Data Mapping</a:t>
            </a:r>
            <a:endParaRPr lang="en-US" sz="1150" dirty="0"/>
          </a:p>
          <a:p>
            <a:pPr indent="0" marL="0">
              <a:lnSpc>
                <a:spcPct val="112000"/>
              </a:lnSpc>
              <a:spcAft>
                <a:spcPts val="1400"/>
              </a:spcAft>
              <a:buNone/>
            </a:pPr>
            <a:r>
              <a:rPr lang="en-US" sz="12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keeps one consistent data model across providers. Hybrid reconciles two models — its own plus the vendor's. Vendor-Only simply inherits the vendor's model as-is.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vendor documentation reviewed during platform research (Merge.dev, Finch, Kombo, Workato, Boomi, Celigo, and others).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SINGLE-DEVELOPER EFFORT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Build Timeline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Sequential, feature-by-feature build duration per approach — one developer, no parallelization. Includes engineering contingency and vendor procurement buffer.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737360" y="21945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965960" y="2395728"/>
            <a:ext cx="0" cy="2834640"/>
          </a:xfrm>
          <a:prstGeom prst="line">
            <a:avLst/>
          </a:prstGeom>
          <a:noFill/>
          <a:ln w="9525">
            <a:solidFill>
              <a:srgbClr val="E3E8F2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474720" y="21945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703320" y="2395728"/>
            <a:ext cx="0" cy="2834640"/>
          </a:xfrm>
          <a:prstGeom prst="line">
            <a:avLst/>
          </a:prstGeom>
          <a:noFill/>
          <a:ln w="9525">
            <a:solidFill>
              <a:srgbClr val="E3E8F2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212080" y="21945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40680" y="2395728"/>
            <a:ext cx="0" cy="2834640"/>
          </a:xfrm>
          <a:prstGeom prst="line">
            <a:avLst/>
          </a:prstGeom>
          <a:noFill/>
          <a:ln w="9525">
            <a:solidFill>
              <a:srgbClr val="E3E8F2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949440" y="21945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178040" y="2395728"/>
            <a:ext cx="0" cy="2834640"/>
          </a:xfrm>
          <a:prstGeom prst="line">
            <a:avLst/>
          </a:prstGeom>
          <a:noFill/>
          <a:ln w="9525">
            <a:solidFill>
              <a:srgbClr val="E3E8F2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8686800" y="21945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915400" y="2395728"/>
            <a:ext cx="0" cy="2834640"/>
          </a:xfrm>
          <a:prstGeom prst="line">
            <a:avLst/>
          </a:prstGeom>
          <a:noFill/>
          <a:ln w="9525">
            <a:solidFill>
              <a:srgbClr val="E3E8F2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10424160" y="21945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0652760" y="2395728"/>
            <a:ext cx="0" cy="2834640"/>
          </a:xfrm>
          <a:prstGeom prst="line">
            <a:avLst/>
          </a:prstGeom>
          <a:noFill/>
          <a:ln w="9525">
            <a:solidFill>
              <a:srgbClr val="E3E8F2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57200" y="25603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965960" y="2377440"/>
            <a:ext cx="173736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03320" y="2377440"/>
            <a:ext cx="1389888" cy="731520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93208" y="2377440"/>
            <a:ext cx="1389888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83096" y="2377440"/>
            <a:ext cx="694944" cy="731520"/>
          </a:xfrm>
          <a:prstGeom prst="rect">
            <a:avLst/>
          </a:prstGeom>
          <a:solidFill>
            <a:srgbClr val="8A5FB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78040" y="2377440"/>
            <a:ext cx="694944" cy="731520"/>
          </a:xfrm>
          <a:prstGeom prst="rect">
            <a:avLst/>
          </a:prstGeom>
          <a:solidFill>
            <a:srgbClr val="B886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72984" y="2377440"/>
            <a:ext cx="521208" cy="731520"/>
          </a:xfrm>
          <a:prstGeom prst="rect">
            <a:avLst/>
          </a:prstGeom>
          <a:solidFill>
            <a:srgbClr val="5C6B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94192" y="2377440"/>
            <a:ext cx="347472" cy="731520"/>
          </a:xfrm>
          <a:prstGeom prst="rect">
            <a:avLst/>
          </a:prstGeom>
          <a:solidFill>
            <a:srgbClr val="1E7A3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41664" y="2377440"/>
            <a:ext cx="173736" cy="731520"/>
          </a:xfrm>
          <a:prstGeom prst="rect">
            <a:avLst/>
          </a:prstGeom>
          <a:solidFill>
            <a:srgbClr val="B326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15400" y="2377440"/>
            <a:ext cx="1389888" cy="731520"/>
          </a:xfrm>
          <a:prstGeom prst="rect">
            <a:avLst/>
          </a:prstGeom>
          <a:solidFill>
            <a:srgbClr val="AEB8C7"/>
          </a:solidFill>
          <a:ln w="12700">
            <a:solidFill>
              <a:srgbClr val="FFFFFF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0396728" y="25786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wks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36118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965960" y="3429000"/>
            <a:ext cx="694944" cy="731520"/>
          </a:xfrm>
          <a:prstGeom prst="rect">
            <a:avLst/>
          </a:prstGeom>
          <a:solidFill>
            <a:srgbClr val="D9C27A"/>
          </a:solidFill>
          <a:ln w="12700">
            <a:solidFill>
              <a:srgbClr val="FFFFFF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2660904" y="3429000"/>
            <a:ext cx="694944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55848" y="3429000"/>
            <a:ext cx="868680" cy="731520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24528" y="3429000"/>
            <a:ext cx="1042416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266944" y="3429000"/>
            <a:ext cx="521208" cy="731520"/>
          </a:xfrm>
          <a:prstGeom prst="rect">
            <a:avLst/>
          </a:prstGeom>
          <a:solidFill>
            <a:srgbClr val="8A5FB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88152" y="3429000"/>
            <a:ext cx="521208" cy="731520"/>
          </a:xfrm>
          <a:prstGeom prst="rect">
            <a:avLst/>
          </a:prstGeom>
          <a:solidFill>
            <a:srgbClr val="B886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09360" y="3429000"/>
            <a:ext cx="347472" cy="731520"/>
          </a:xfrm>
          <a:prstGeom prst="rect">
            <a:avLst/>
          </a:prstGeom>
          <a:solidFill>
            <a:srgbClr val="5C6B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56832" y="3429000"/>
            <a:ext cx="260604" cy="731520"/>
          </a:xfrm>
          <a:prstGeom prst="rect">
            <a:avLst/>
          </a:prstGeom>
          <a:solidFill>
            <a:srgbClr val="1E7A3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17436" y="3429000"/>
            <a:ext cx="173736" cy="731520"/>
          </a:xfrm>
          <a:prstGeom prst="rect">
            <a:avLst/>
          </a:prstGeom>
          <a:solidFill>
            <a:srgbClr val="B3261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091172" y="3429000"/>
            <a:ext cx="868680" cy="731520"/>
          </a:xfrm>
          <a:prstGeom prst="rect">
            <a:avLst/>
          </a:prstGeom>
          <a:solidFill>
            <a:srgbClr val="AEB8C7"/>
          </a:solidFill>
          <a:ln w="12700">
            <a:solidFill>
              <a:srgbClr val="FFFFFF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8051292" y="36301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17.25 wks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457200" y="46634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Vendor-Only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1965960" y="4480560"/>
            <a:ext cx="1389888" cy="731520"/>
          </a:xfrm>
          <a:prstGeom prst="rect">
            <a:avLst/>
          </a:prstGeom>
          <a:solidFill>
            <a:srgbClr val="D9C27A"/>
          </a:solidFill>
          <a:ln w="12700">
            <a:solidFill>
              <a:srgbClr val="FFFFFF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3355848" y="4480560"/>
            <a:ext cx="347472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703320" y="4480560"/>
            <a:ext cx="173736" cy="731520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77056" y="4480560"/>
            <a:ext cx="173736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050792" y="4480560"/>
            <a:ext cx="173736" cy="731520"/>
          </a:xfrm>
          <a:prstGeom prst="rect">
            <a:avLst/>
          </a:prstGeom>
          <a:solidFill>
            <a:srgbClr val="B886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24528" y="4480560"/>
            <a:ext cx="173736" cy="731520"/>
          </a:xfrm>
          <a:prstGeom prst="rect">
            <a:avLst/>
          </a:prstGeom>
          <a:solidFill>
            <a:srgbClr val="AEB8C7"/>
          </a:solidFill>
          <a:ln w="12700">
            <a:solidFill>
              <a:srgbClr val="FFFFFF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4489704" y="468172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wks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457200" y="5568696"/>
            <a:ext cx="146304" cy="14630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9" name="Text 47"/>
          <p:cNvSpPr/>
          <p:nvPr/>
        </p:nvSpPr>
        <p:spPr>
          <a:xfrm>
            <a:off x="676656" y="55046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&amp; Auth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200400" y="5568696"/>
            <a:ext cx="146304" cy="14630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1" name="Text 49"/>
          <p:cNvSpPr/>
          <p:nvPr/>
        </p:nvSpPr>
        <p:spPr>
          <a:xfrm>
            <a:off x="3419856" y="55046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Modes &amp; Orchestration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943600" y="5568696"/>
            <a:ext cx="146304" cy="14630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3" name="Text 51"/>
          <p:cNvSpPr/>
          <p:nvPr/>
        </p:nvSpPr>
        <p:spPr>
          <a:xfrm>
            <a:off x="6163056" y="55046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Entity Types &amp; Data Mapping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8686800" y="5568696"/>
            <a:ext cx="146304" cy="146304"/>
          </a:xfrm>
          <a:prstGeom prst="rect">
            <a:avLst/>
          </a:prstGeom>
          <a:solidFill>
            <a:srgbClr val="8A5FB3"/>
          </a:solidFill>
          <a:ln/>
        </p:spPr>
      </p:sp>
      <p:sp>
        <p:nvSpPr>
          <p:cNvPr id="55" name="Text 53"/>
          <p:cNvSpPr/>
          <p:nvPr/>
        </p:nvSpPr>
        <p:spPr>
          <a:xfrm>
            <a:off x="8906256" y="55046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 &amp; Isolation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57200" y="5897880"/>
            <a:ext cx="146304" cy="146304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57" name="Text 55"/>
          <p:cNvSpPr/>
          <p:nvPr/>
        </p:nvSpPr>
        <p:spPr>
          <a:xfrm>
            <a:off x="676656" y="5833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Governance/Compliance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200400" y="5897880"/>
            <a:ext cx="146304" cy="146304"/>
          </a:xfrm>
          <a:prstGeom prst="rect">
            <a:avLst/>
          </a:prstGeom>
          <a:solidFill>
            <a:srgbClr val="5C6B8A"/>
          </a:solidFill>
          <a:ln/>
        </p:spPr>
      </p:sp>
      <p:sp>
        <p:nvSpPr>
          <p:cNvPr id="59" name="Text 57"/>
          <p:cNvSpPr/>
          <p:nvPr/>
        </p:nvSpPr>
        <p:spPr>
          <a:xfrm>
            <a:off x="3419856" y="5833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Agnostic / Deployment Models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5943600" y="5897880"/>
            <a:ext cx="146304" cy="146304"/>
          </a:xfrm>
          <a:prstGeom prst="rect">
            <a:avLst/>
          </a:prstGeom>
          <a:solidFill>
            <a:srgbClr val="1E7A34"/>
          </a:solidFill>
          <a:ln/>
        </p:spPr>
      </p:sp>
      <p:sp>
        <p:nvSpPr>
          <p:cNvPr id="61" name="Text 59"/>
          <p:cNvSpPr/>
          <p:nvPr/>
        </p:nvSpPr>
        <p:spPr>
          <a:xfrm>
            <a:off x="6163056" y="5833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&amp; Performance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8686800" y="5897880"/>
            <a:ext cx="146304" cy="146304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63" name="Text 61"/>
          <p:cNvSpPr/>
          <p:nvPr/>
        </p:nvSpPr>
        <p:spPr>
          <a:xfrm>
            <a:off x="8906256" y="5833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Extensibility &amp; Time-to-Build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57200" y="6355080"/>
            <a:ext cx="146304" cy="146304"/>
          </a:xfrm>
          <a:prstGeom prst="rect">
            <a:avLst/>
          </a:prstGeom>
          <a:solidFill>
            <a:srgbClr val="D9C27A"/>
          </a:solidFill>
          <a:ln w="9525">
            <a:solidFill>
              <a:srgbClr val="5C6B8A"/>
            </a:solidFill>
            <a:prstDash val="dash"/>
          </a:ln>
        </p:spPr>
      </p:sp>
      <p:sp>
        <p:nvSpPr>
          <p:cNvPr id="65" name="Text 63"/>
          <p:cNvSpPr/>
          <p:nvPr/>
        </p:nvSpPr>
        <p:spPr>
          <a:xfrm>
            <a:off x="676656" y="629107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Procurement &amp; Onboarding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5943600" y="6355080"/>
            <a:ext cx="146304" cy="146304"/>
          </a:xfrm>
          <a:prstGeom prst="rect">
            <a:avLst/>
          </a:prstGeom>
          <a:solidFill>
            <a:srgbClr val="AEB8C7"/>
          </a:solidFill>
          <a:ln w="9525">
            <a:solidFill>
              <a:srgbClr val="5C6B8A"/>
            </a:solidFill>
            <a:prstDash val="dash"/>
          </a:ln>
        </p:spPr>
      </p:sp>
      <p:sp>
        <p:nvSpPr>
          <p:cNvPr id="67" name="Text 65"/>
          <p:cNvSpPr/>
          <p:nvPr/>
        </p:nvSpPr>
        <p:spPr>
          <a:xfrm>
            <a:off x="6163056" y="629107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Contingency (20%)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Custom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reasons Custom outperforms both Hybrid and Vendor-Only over the long term.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/sessions/funny-adoring-gauss/mnt/outputs/roi_slide/trop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201625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587752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Margin Capture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457200" y="2953512"/>
            <a:ext cx="35753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owns the entire stack and charges for the complete platform. Hybrid and Vendor-Only both cede part of that margin to a vendor.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06824" y="187452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1" descr="/sessions/funny-adoring-gauss/mnt/outputs/roi_slide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556" y="2016252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06824" y="2587752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4306824" y="2953512"/>
            <a:ext cx="35753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third party controls Custom's roadmap, pricing, or uptime. Vendor-Only's license already blocks reselling to clients — Hybrid inherits that same restriction on its vendor slice, just a smaller one.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156448" y="187452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4" name="Image 2" descr="/sessions/funny-adoring-gauss/mnt/outputs/roi_slide/checkdoub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8180" y="201625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156448" y="2587752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Feature Coverage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8156448" y="2953512"/>
            <a:ext cx="35753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approach rated Full across all 8 evaluated features — no gap to work around, no vendor catalog boundary forcing a build later.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57200" y="416052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8" name="Image 3" descr="/sessions/funny-adoring-gauss/mnt/outputs/roi_slide/co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" y="4302252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57200" y="4873752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Multi-Vendor Complexity</a:t>
            </a:r>
            <a:endParaRPr lang="en-US" sz="1650" dirty="0"/>
          </a:p>
        </p:txBody>
      </p:sp>
      <p:sp>
        <p:nvSpPr>
          <p:cNvPr id="20" name="Text 14"/>
          <p:cNvSpPr/>
          <p:nvPr/>
        </p:nvSpPr>
        <p:spPr>
          <a:xfrm>
            <a:off x="457200" y="5239512"/>
            <a:ext cx="35753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the operational overhead Hybrid carries indefinitely — per-customer feasibility checks, vendor compatibility checks, and cross-vendor data reconciliation.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306824" y="416052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2" name="Image 4" descr="/sessions/funny-adoring-gauss/mnt/outputs/roi_slide/balanc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8556" y="4302252"/>
            <a:ext cx="310896" cy="31089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306824" y="4873752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Compliance Ownership</a:t>
            </a:r>
            <a:endParaRPr lang="en-US" sz="1650" dirty="0"/>
          </a:p>
        </p:txBody>
      </p:sp>
      <p:sp>
        <p:nvSpPr>
          <p:cNvPr id="24" name="Text 17"/>
          <p:cNvSpPr/>
          <p:nvPr/>
        </p:nvSpPr>
        <p:spPr>
          <a:xfrm>
            <a:off x="4306824" y="5239512"/>
            <a:ext cx="35753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its entire security and compliance posture end to end, rather than inheriting a vendor's certifications — several of which weren't even confirmed.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8156448" y="416052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6" name="Shape 19"/>
          <p:cNvSpPr/>
          <p:nvPr/>
        </p:nvSpPr>
        <p:spPr>
          <a:xfrm>
            <a:off x="8279892" y="4283964"/>
            <a:ext cx="347472" cy="347472"/>
          </a:xfrm>
          <a:prstGeom prst="ellipse">
            <a:avLst/>
          </a:prstGeom>
          <a:ln w="22225">
            <a:solidFill>
              <a:srgbClr val="1E2761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8453628" y="4344772"/>
            <a:ext cx="0" cy="112928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8453628" y="4457700"/>
            <a:ext cx="86868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8156448" y="4873752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Gap</a:t>
            </a:r>
            <a:endParaRPr lang="en-US" sz="1650" dirty="0"/>
          </a:p>
        </p:txBody>
      </p:sp>
      <p:sp>
        <p:nvSpPr>
          <p:cNvPr id="30" name="Text 23"/>
          <p:cNvSpPr/>
          <p:nvPr/>
        </p:nvSpPr>
        <p:spPr>
          <a:xfrm>
            <a:off x="8156448" y="5239512"/>
            <a:ext cx="35753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AI-assisted development, Custom's timeline versus Hybrid narrows to just 4 weeks — a small, one-time cost for full ownership and zero vendor risk.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2026-08-25T10:29:34Z</dcterms:created>
  <dcterms:modified xsi:type="dcterms:W3CDTF">2026-08-25T10:29:34Z</dcterms:modified>
</cp:coreProperties>
</file>